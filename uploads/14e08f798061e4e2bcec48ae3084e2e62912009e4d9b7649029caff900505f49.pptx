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ppt/media/image3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3398500" cy="20104100"/>
  <p:notesSz cx="13398500" cy="2010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16601A-02A0-4C80-A361-8D5E07617CEF}" v="1" dt="2025-06-26T04:22:46.9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2458" y="-6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Konderu" userId="74a181415743e8bd" providerId="LiveId" clId="{C216601A-02A0-4C80-A361-8D5E07617CEF}"/>
    <pc:docChg chg="modSld">
      <pc:chgData name="Deepika Konderu" userId="74a181415743e8bd" providerId="LiveId" clId="{C216601A-02A0-4C80-A361-8D5E07617CEF}" dt="2025-06-26T04:22:46.972" v="0"/>
      <pc:docMkLst>
        <pc:docMk/>
      </pc:docMkLst>
      <pc:sldChg chg="modSp">
        <pc:chgData name="Deepika Konderu" userId="74a181415743e8bd" providerId="LiveId" clId="{C216601A-02A0-4C80-A361-8D5E07617CEF}" dt="2025-06-26T04:22:46.972" v="0"/>
        <pc:sldMkLst>
          <pc:docMk/>
          <pc:sldMk cId="0" sldId="256"/>
        </pc:sldMkLst>
        <pc:graphicFrameChg chg="mod">
          <ac:chgData name="Deepika Konderu" userId="74a181415743e8bd" providerId="LiveId" clId="{C216601A-02A0-4C80-A361-8D5E07617CEF}" dt="2025-06-26T04:22:46.972" v="0"/>
          <ac:graphicFrameMkLst>
            <pc:docMk/>
            <pc:sldMk cId="0" sldId="256"/>
            <ac:graphicFrameMk id="18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363" y="6232271"/>
            <a:ext cx="113941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0727" y="11258296"/>
            <a:ext cx="93833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242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3497" y="4623943"/>
            <a:ext cx="583111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27405" y="8785841"/>
            <a:ext cx="6081395" cy="607695"/>
          </a:xfrm>
          <a:custGeom>
            <a:avLst/>
            <a:gdLst/>
            <a:ahLst/>
            <a:cxnLst/>
            <a:rect l="l" t="t" r="r" b="b"/>
            <a:pathLst>
              <a:path w="6081395" h="607695">
                <a:moveTo>
                  <a:pt x="6080869" y="0"/>
                </a:moveTo>
                <a:lnTo>
                  <a:pt x="0" y="0"/>
                </a:lnTo>
                <a:lnTo>
                  <a:pt x="0" y="607629"/>
                </a:lnTo>
                <a:lnTo>
                  <a:pt x="6080869" y="607629"/>
                </a:lnTo>
                <a:lnTo>
                  <a:pt x="6080869" y="0"/>
                </a:lnTo>
                <a:close/>
              </a:path>
            </a:pathLst>
          </a:custGeom>
          <a:solidFill>
            <a:srgbClr val="F8CA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804135" y="8762580"/>
            <a:ext cx="6127750" cy="4241800"/>
          </a:xfrm>
          <a:custGeom>
            <a:avLst/>
            <a:gdLst/>
            <a:ahLst/>
            <a:cxnLst/>
            <a:rect l="l" t="t" r="r" b="b"/>
            <a:pathLst>
              <a:path w="6127750" h="4241800">
                <a:moveTo>
                  <a:pt x="0" y="630890"/>
                </a:moveTo>
                <a:lnTo>
                  <a:pt x="6127406" y="630890"/>
                </a:lnTo>
              </a:path>
              <a:path w="6127750" h="4241800">
                <a:moveTo>
                  <a:pt x="23268" y="0"/>
                </a:moveTo>
                <a:lnTo>
                  <a:pt x="23268" y="4241639"/>
                </a:lnTo>
              </a:path>
              <a:path w="6127750" h="4241800">
                <a:moveTo>
                  <a:pt x="6104138" y="0"/>
                </a:moveTo>
                <a:lnTo>
                  <a:pt x="6104138" y="4241639"/>
                </a:lnTo>
              </a:path>
              <a:path w="6127750" h="4241800">
                <a:moveTo>
                  <a:pt x="0" y="23268"/>
                </a:moveTo>
                <a:lnTo>
                  <a:pt x="6127406" y="23268"/>
                </a:lnTo>
              </a:path>
              <a:path w="6127750" h="4241800">
                <a:moveTo>
                  <a:pt x="0" y="4218370"/>
                </a:moveTo>
                <a:lnTo>
                  <a:pt x="6127406" y="4218370"/>
                </a:lnTo>
              </a:path>
            </a:pathLst>
          </a:custGeom>
          <a:ln w="46537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76131" y="2569788"/>
            <a:ext cx="12351385" cy="749300"/>
          </a:xfrm>
          <a:custGeom>
            <a:avLst/>
            <a:gdLst/>
            <a:ahLst/>
            <a:cxnLst/>
            <a:rect l="l" t="t" r="r" b="b"/>
            <a:pathLst>
              <a:path w="12351385" h="749300">
                <a:moveTo>
                  <a:pt x="12350990" y="0"/>
                </a:moveTo>
                <a:lnTo>
                  <a:pt x="0" y="0"/>
                </a:lnTo>
                <a:lnTo>
                  <a:pt x="0" y="749249"/>
                </a:lnTo>
                <a:lnTo>
                  <a:pt x="12350990" y="749249"/>
                </a:lnTo>
                <a:lnTo>
                  <a:pt x="12350990" y="0"/>
                </a:lnTo>
                <a:close/>
              </a:path>
            </a:pathLst>
          </a:custGeom>
          <a:solidFill>
            <a:srgbClr val="FFCD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6131" y="2569788"/>
            <a:ext cx="12351385" cy="749300"/>
          </a:xfrm>
          <a:custGeom>
            <a:avLst/>
            <a:gdLst/>
            <a:ahLst/>
            <a:cxnLst/>
            <a:rect l="l" t="t" r="r" b="b"/>
            <a:pathLst>
              <a:path w="12351385" h="749300">
                <a:moveTo>
                  <a:pt x="0" y="749249"/>
                </a:moveTo>
                <a:lnTo>
                  <a:pt x="12350990" y="749249"/>
                </a:lnTo>
                <a:lnTo>
                  <a:pt x="12350990" y="0"/>
                </a:lnTo>
                <a:lnTo>
                  <a:pt x="0" y="0"/>
                </a:lnTo>
                <a:lnTo>
                  <a:pt x="0" y="749249"/>
                </a:lnTo>
                <a:close/>
              </a:path>
            </a:pathLst>
          </a:custGeom>
          <a:ln w="4653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66193" y="237340"/>
            <a:ext cx="12902565" cy="19577050"/>
          </a:xfrm>
          <a:custGeom>
            <a:avLst/>
            <a:gdLst/>
            <a:ahLst/>
            <a:cxnLst/>
            <a:rect l="l" t="t" r="r" b="b"/>
            <a:pathLst>
              <a:path w="12902565" h="19577050">
                <a:moveTo>
                  <a:pt x="103312" y="70736"/>
                </a:moveTo>
                <a:lnTo>
                  <a:pt x="12843820" y="111456"/>
                </a:lnTo>
              </a:path>
              <a:path w="12902565" h="19577050">
                <a:moveTo>
                  <a:pt x="42814" y="19455369"/>
                </a:moveTo>
                <a:lnTo>
                  <a:pt x="12738723" y="19505785"/>
                </a:lnTo>
              </a:path>
              <a:path w="12902565" h="19577050">
                <a:moveTo>
                  <a:pt x="105678" y="0"/>
                </a:moveTo>
                <a:lnTo>
                  <a:pt x="0" y="19525291"/>
                </a:lnTo>
              </a:path>
              <a:path w="12902565" h="19577050">
                <a:moveTo>
                  <a:pt x="12902224" y="41883"/>
                </a:moveTo>
                <a:lnTo>
                  <a:pt x="12803332" y="19576870"/>
                </a:lnTo>
              </a:path>
            </a:pathLst>
          </a:custGeom>
          <a:ln w="1396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242" y="804164"/>
            <a:ext cx="1206436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242" y="4623943"/>
            <a:ext cx="1206436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7649" y="18696814"/>
            <a:ext cx="428955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24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1492" y="18696814"/>
            <a:ext cx="308311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2574" y="5071632"/>
          <a:ext cx="6078220" cy="3477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46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FF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125">
                <a:tc>
                  <a:txBody>
                    <a:bodyPr/>
                    <a:lstStyle/>
                    <a:p>
                      <a:pPr marL="8032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900" b="1" spc="5" dirty="0">
                          <a:solidFill>
                            <a:srgbClr val="1154CC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2800" b="1" spc="5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="1" spc="-5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Root Cause of the Problem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  <a:solidFill>
                      <a:srgbClr val="F8CA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895">
                <a:tc>
                  <a:txBody>
                    <a:bodyPr/>
                    <a:lstStyle/>
                    <a:p>
                      <a:pPr marL="55880" marR="83820">
                        <a:lnSpc>
                          <a:spcPct val="116599"/>
                        </a:lnSpc>
                        <a:spcBef>
                          <a:spcPts val="45"/>
                        </a:spcBef>
                      </a:pPr>
                      <a:r>
                        <a:rPr sz="2650" spc="15" dirty="0">
                          <a:latin typeface="Times New Roman"/>
                          <a:cs typeface="Times New Roman"/>
                        </a:rPr>
                        <a:t>People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tend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leave</a:t>
                      </a:r>
                      <a:r>
                        <a:rPr sz="2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appliances</a:t>
                      </a:r>
                      <a:r>
                        <a:rPr sz="2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650" spc="-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long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switching</a:t>
                      </a:r>
                      <a:r>
                        <a:rPr sz="2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Off.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L="55880" marR="73660">
                        <a:lnSpc>
                          <a:spcPts val="3710"/>
                        </a:lnSpc>
                        <a:spcBef>
                          <a:spcPts val="210"/>
                        </a:spcBef>
                      </a:pP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latin typeface="Times New Roman"/>
                          <a:cs typeface="Times New Roman"/>
                        </a:rPr>
                        <a:t>carelessness</a:t>
                      </a:r>
                      <a:r>
                        <a:rPr sz="2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2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latin typeface="Times New Roman"/>
                          <a:cs typeface="Times New Roman"/>
                        </a:rPr>
                        <a:t>amount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700" spc="-6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power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2650" spc="20" dirty="0">
                          <a:latin typeface="Times New Roman"/>
                          <a:cs typeface="Times New Roman"/>
                        </a:rPr>
                        <a:t>consumed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and thus energy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 wasted.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2879" y="8725737"/>
          <a:ext cx="6087745" cy="4225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7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771">
                <a:tc>
                  <a:txBody>
                    <a:bodyPr/>
                    <a:lstStyle/>
                    <a:p>
                      <a:pPr marL="149225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3.</a:t>
                      </a:r>
                      <a:r>
                        <a:rPr sz="2800" b="1" spc="-15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2800" b="1" spc="-5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Solutions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  <a:solidFill>
                      <a:srgbClr val="F8CA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7424">
                <a:tc>
                  <a:txBody>
                    <a:bodyPr/>
                    <a:lstStyle/>
                    <a:p>
                      <a:pPr marL="404495" marR="792480" indent="-349250">
                        <a:lnSpc>
                          <a:spcPct val="116599"/>
                        </a:lnSpc>
                        <a:spcBef>
                          <a:spcPts val="60"/>
                        </a:spcBef>
                        <a:buSzPct val="92452"/>
                        <a:buFont typeface="Arial MT"/>
                        <a:buChar char="•"/>
                        <a:tabLst>
                          <a:tab pos="404495" algn="l"/>
                          <a:tab pos="405130" algn="l"/>
                        </a:tabLst>
                      </a:pPr>
                      <a:r>
                        <a:rPr sz="2650" spc="15" dirty="0">
                          <a:latin typeface="Times New Roman"/>
                          <a:cs typeface="Times New Roman"/>
                        </a:rPr>
                        <a:t>Street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lights</a:t>
                      </a:r>
                      <a:r>
                        <a:rPr sz="26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produce</a:t>
                      </a:r>
                      <a:r>
                        <a:rPr sz="2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light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 by </a:t>
                      </a:r>
                      <a:r>
                        <a:rPr sz="2650" spc="-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2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electricity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L="404495" marR="234950" indent="-349250">
                        <a:lnSpc>
                          <a:spcPct val="116599"/>
                        </a:lnSpc>
                        <a:buSzPct val="92452"/>
                        <a:buFont typeface="Arial MT"/>
                        <a:buChar char="•"/>
                        <a:tabLst>
                          <a:tab pos="404495" algn="l"/>
                          <a:tab pos="405130" algn="l"/>
                        </a:tabLst>
                      </a:pPr>
                      <a:r>
                        <a:rPr sz="2650" spc="15" dirty="0">
                          <a:latin typeface="Times New Roman"/>
                          <a:cs typeface="Times New Roman"/>
                        </a:rPr>
                        <a:t>There</a:t>
                      </a:r>
                      <a:r>
                        <a:rPr sz="2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already</a:t>
                      </a:r>
                      <a:r>
                        <a:rPr sz="2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2650" spc="-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light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sense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26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25" dirty="0">
                          <a:latin typeface="Times New Roman"/>
                          <a:cs typeface="Times New Roman"/>
                        </a:rPr>
                        <a:t>LDR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sensor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L="404495" indent="-349885">
                        <a:lnSpc>
                          <a:spcPct val="100000"/>
                        </a:lnSpc>
                        <a:spcBef>
                          <a:spcPts val="530"/>
                        </a:spcBef>
                        <a:buSzPct val="92452"/>
                        <a:buFont typeface="Arial MT"/>
                        <a:buChar char="•"/>
                        <a:tabLst>
                          <a:tab pos="404495" algn="l"/>
                          <a:tab pos="405130" algn="l"/>
                        </a:tabLst>
                      </a:pP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solar</a:t>
                      </a:r>
                      <a:r>
                        <a:rPr sz="2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26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operation</a:t>
                      </a:r>
                      <a:endParaRPr sz="265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0081" y="13183620"/>
          <a:ext cx="6088380" cy="3069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106">
                <a:tc>
                  <a:txBody>
                    <a:bodyPr/>
                    <a:lstStyle/>
                    <a:p>
                      <a:pPr marL="57531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4.</a:t>
                      </a:r>
                      <a:r>
                        <a:rPr sz="2800" b="1" spc="-5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2800" b="1" spc="-5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800" b="1" spc="10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b="1" spc="-5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2800" b="1" spc="10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Solutions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  <a:solidFill>
                      <a:srgbClr val="F8CA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0724">
                <a:tc>
                  <a:txBody>
                    <a:bodyPr/>
                    <a:lstStyle/>
                    <a:p>
                      <a:pPr marL="404495" marR="168910" indent="-349250">
                        <a:lnSpc>
                          <a:spcPct val="116599"/>
                        </a:lnSpc>
                        <a:spcBef>
                          <a:spcPts val="55"/>
                        </a:spcBef>
                        <a:buSzPct val="92452"/>
                        <a:buFont typeface="Arial MT"/>
                        <a:buChar char="•"/>
                        <a:tabLst>
                          <a:tab pos="404495" algn="l"/>
                          <a:tab pos="405130" algn="l"/>
                        </a:tabLst>
                      </a:pPr>
                      <a:r>
                        <a:rPr sz="2650" spc="20" dirty="0">
                          <a:latin typeface="Times New Roman"/>
                          <a:cs typeface="Times New Roman"/>
                        </a:rPr>
                        <a:t>LDR’s</a:t>
                      </a:r>
                      <a:r>
                        <a:rPr sz="26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26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6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sensitive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ambient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light, </a:t>
                      </a:r>
                      <a:r>
                        <a:rPr sz="2650" spc="-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leading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0" dirty="0">
                          <a:latin typeface="Times New Roman"/>
                          <a:cs typeface="Times New Roman"/>
                        </a:rPr>
                        <a:t>false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triggers</a:t>
                      </a:r>
                      <a:r>
                        <a:rPr sz="26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26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daytime</a:t>
                      </a:r>
                      <a:endParaRPr sz="2650" dirty="0">
                        <a:latin typeface="Times New Roman"/>
                        <a:cs typeface="Times New Roman"/>
                      </a:endParaRPr>
                    </a:p>
                    <a:p>
                      <a:pPr marL="404495" marR="1090295" indent="-349250">
                        <a:lnSpc>
                          <a:spcPct val="114999"/>
                        </a:lnSpc>
                        <a:spcBef>
                          <a:spcPts val="55"/>
                        </a:spcBef>
                        <a:buSzPct val="92452"/>
                        <a:buFont typeface="Arial MT"/>
                        <a:buChar char="•"/>
                        <a:tabLst>
                          <a:tab pos="404495" algn="l"/>
                          <a:tab pos="405130" algn="l"/>
                        </a:tabLst>
                      </a:pPr>
                      <a:r>
                        <a:rPr sz="2650" spc="1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6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sz="2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causes</a:t>
                      </a:r>
                      <a:r>
                        <a:rPr sz="26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unnecessary</a:t>
                      </a:r>
                      <a:r>
                        <a:rPr sz="26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50" spc="15" dirty="0">
                          <a:latin typeface="Times New Roman"/>
                          <a:cs typeface="Times New Roman"/>
                        </a:rPr>
                        <a:t>energy </a:t>
                      </a:r>
                      <a:r>
                        <a:rPr sz="2650" spc="-6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latin typeface="Times New Roman"/>
                          <a:cs typeface="Times New Roman"/>
                        </a:rPr>
                        <a:t>consumption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714337"/>
              </p:ext>
            </p:extLst>
          </p:nvPr>
        </p:nvGraphicFramePr>
        <p:xfrm>
          <a:off x="561681" y="16486060"/>
          <a:ext cx="6132195" cy="3010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3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sz="2800" b="1" spc="-30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Details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  <a:solidFill>
                      <a:srgbClr val="F8CA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4310">
                <a:tc>
                  <a:txBody>
                    <a:bodyPr/>
                    <a:lstStyle/>
                    <a:p>
                      <a:pPr marL="55880" marR="1363980" algn="just">
                        <a:lnSpc>
                          <a:spcPct val="116599"/>
                        </a:lnSpc>
                        <a:spcBef>
                          <a:spcPts val="75"/>
                        </a:spcBef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Kashish Singh</a:t>
                      </a:r>
                    </a:p>
                    <a:p>
                      <a:pPr marL="55880" marR="1363980" algn="just">
                        <a:lnSpc>
                          <a:spcPct val="116599"/>
                        </a:lnSpc>
                        <a:spcBef>
                          <a:spcPts val="75"/>
                        </a:spcBef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24H51A66E4</a:t>
                      </a:r>
                    </a:p>
                    <a:p>
                      <a:pPr marL="55880" marR="1363980" algn="just">
                        <a:lnSpc>
                          <a:spcPct val="116599"/>
                        </a:lnSpc>
                        <a:spcBef>
                          <a:spcPts val="75"/>
                        </a:spcBef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CSM-D</a:t>
                      </a:r>
                    </a:p>
                  </a:txBody>
                  <a:tcPr marL="0" marR="0" marT="9525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98884" y="340248"/>
            <a:ext cx="12745720" cy="8398510"/>
            <a:chOff x="398884" y="340248"/>
            <a:chExt cx="12745720" cy="8398510"/>
          </a:xfrm>
        </p:grpSpPr>
        <p:sp>
          <p:nvSpPr>
            <p:cNvPr id="7" name="object 7"/>
            <p:cNvSpPr/>
            <p:nvPr/>
          </p:nvSpPr>
          <p:spPr>
            <a:xfrm>
              <a:off x="436984" y="378348"/>
              <a:ext cx="12669520" cy="2175510"/>
            </a:xfrm>
            <a:custGeom>
              <a:avLst/>
              <a:gdLst/>
              <a:ahLst/>
              <a:cxnLst/>
              <a:rect l="l" t="t" r="r" b="b"/>
              <a:pathLst>
                <a:path w="12669519" h="2175510">
                  <a:moveTo>
                    <a:pt x="0" y="2175151"/>
                  </a:moveTo>
                  <a:lnTo>
                    <a:pt x="12669305" y="2175151"/>
                  </a:lnTo>
                  <a:lnTo>
                    <a:pt x="12669305" y="0"/>
                  </a:lnTo>
                  <a:lnTo>
                    <a:pt x="0" y="0"/>
                  </a:lnTo>
                  <a:lnTo>
                    <a:pt x="0" y="2175151"/>
                  </a:lnTo>
                  <a:close/>
                </a:path>
              </a:pathLst>
            </a:custGeom>
            <a:ln w="7562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131" y="573339"/>
              <a:ext cx="1353303" cy="13039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5898" y="3396282"/>
              <a:ext cx="12351385" cy="615950"/>
            </a:xfrm>
            <a:custGeom>
              <a:avLst/>
              <a:gdLst/>
              <a:ahLst/>
              <a:cxnLst/>
              <a:rect l="l" t="t" r="r" b="b"/>
              <a:pathLst>
                <a:path w="12351385" h="615950">
                  <a:moveTo>
                    <a:pt x="12350835" y="0"/>
                  </a:moveTo>
                  <a:lnTo>
                    <a:pt x="0" y="0"/>
                  </a:lnTo>
                  <a:lnTo>
                    <a:pt x="0" y="615385"/>
                  </a:lnTo>
                  <a:lnTo>
                    <a:pt x="12350835" y="615385"/>
                  </a:lnTo>
                  <a:lnTo>
                    <a:pt x="12350835" y="0"/>
                  </a:lnTo>
                  <a:close/>
                </a:path>
              </a:pathLst>
            </a:custGeom>
            <a:solidFill>
              <a:srgbClr val="F8CA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2630" y="3373021"/>
              <a:ext cx="12397740" cy="1722120"/>
            </a:xfrm>
            <a:custGeom>
              <a:avLst/>
              <a:gdLst/>
              <a:ahLst/>
              <a:cxnLst/>
              <a:rect l="l" t="t" r="r" b="b"/>
              <a:pathLst>
                <a:path w="12397740" h="1722120">
                  <a:moveTo>
                    <a:pt x="0" y="638646"/>
                  </a:moveTo>
                  <a:lnTo>
                    <a:pt x="12397372" y="638646"/>
                  </a:lnTo>
                </a:path>
                <a:path w="12397740" h="1722120">
                  <a:moveTo>
                    <a:pt x="23268" y="0"/>
                  </a:moveTo>
                  <a:lnTo>
                    <a:pt x="23268" y="1721878"/>
                  </a:lnTo>
                </a:path>
                <a:path w="12397740" h="1722120">
                  <a:moveTo>
                    <a:pt x="12374104" y="0"/>
                  </a:moveTo>
                  <a:lnTo>
                    <a:pt x="12374104" y="1721878"/>
                  </a:lnTo>
                </a:path>
                <a:path w="12397740" h="1722120">
                  <a:moveTo>
                    <a:pt x="0" y="23268"/>
                  </a:moveTo>
                  <a:lnTo>
                    <a:pt x="12397372" y="23268"/>
                  </a:lnTo>
                </a:path>
                <a:path w="12397740" h="1722120">
                  <a:moveTo>
                    <a:pt x="0" y="1698610"/>
                  </a:moveTo>
                  <a:lnTo>
                    <a:pt x="12397372" y="1698610"/>
                  </a:lnTo>
                </a:path>
              </a:pathLst>
            </a:custGeom>
            <a:ln w="46537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47803" y="5176278"/>
              <a:ext cx="6079490" cy="613410"/>
            </a:xfrm>
            <a:custGeom>
              <a:avLst/>
              <a:gdLst/>
              <a:ahLst/>
              <a:cxnLst/>
              <a:rect l="l" t="t" r="r" b="b"/>
              <a:pathLst>
                <a:path w="6079490" h="613410">
                  <a:moveTo>
                    <a:pt x="6078930" y="0"/>
                  </a:moveTo>
                  <a:lnTo>
                    <a:pt x="0" y="0"/>
                  </a:lnTo>
                  <a:lnTo>
                    <a:pt x="0" y="613345"/>
                  </a:lnTo>
                  <a:lnTo>
                    <a:pt x="6078930" y="613345"/>
                  </a:lnTo>
                  <a:lnTo>
                    <a:pt x="6078930" y="0"/>
                  </a:lnTo>
                  <a:close/>
                </a:path>
              </a:pathLst>
            </a:custGeom>
            <a:solidFill>
              <a:srgbClr val="F8CA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24534" y="5152994"/>
              <a:ext cx="6125845" cy="3562350"/>
            </a:xfrm>
            <a:custGeom>
              <a:avLst/>
              <a:gdLst/>
              <a:ahLst/>
              <a:cxnLst/>
              <a:rect l="l" t="t" r="r" b="b"/>
              <a:pathLst>
                <a:path w="6125845" h="3562350">
                  <a:moveTo>
                    <a:pt x="0" y="636629"/>
                  </a:moveTo>
                  <a:lnTo>
                    <a:pt x="6125467" y="636629"/>
                  </a:lnTo>
                </a:path>
                <a:path w="6125845" h="3562350">
                  <a:moveTo>
                    <a:pt x="23268" y="0"/>
                  </a:moveTo>
                  <a:lnTo>
                    <a:pt x="23268" y="3562195"/>
                  </a:lnTo>
                </a:path>
                <a:path w="6125845" h="3562350">
                  <a:moveTo>
                    <a:pt x="6102199" y="0"/>
                  </a:moveTo>
                  <a:lnTo>
                    <a:pt x="6102199" y="3562195"/>
                  </a:lnTo>
                </a:path>
                <a:path w="6125845" h="3562350">
                  <a:moveTo>
                    <a:pt x="0" y="23268"/>
                  </a:moveTo>
                  <a:lnTo>
                    <a:pt x="6125467" y="23268"/>
                  </a:lnTo>
                </a:path>
                <a:path w="6125845" h="3562350">
                  <a:moveTo>
                    <a:pt x="0" y="3538926"/>
                  </a:moveTo>
                  <a:lnTo>
                    <a:pt x="6125467" y="3538926"/>
                  </a:lnTo>
                </a:path>
              </a:pathLst>
            </a:custGeom>
            <a:ln w="46537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9089" y="309183"/>
            <a:ext cx="12266295" cy="89877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016000" algn="ctr">
              <a:lnSpc>
                <a:spcPts val="4280"/>
              </a:lnSpc>
              <a:spcBef>
                <a:spcPts val="115"/>
              </a:spcBef>
            </a:pPr>
            <a:r>
              <a:rPr sz="3650" b="1" spc="10" dirty="0">
                <a:solidFill>
                  <a:srgbClr val="000099"/>
                </a:solidFill>
                <a:latin typeface="Times New Roman"/>
                <a:cs typeface="Times New Roman"/>
              </a:rPr>
              <a:t>CMR</a:t>
            </a:r>
            <a:r>
              <a:rPr sz="3650" b="1" spc="-1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3650" b="1" spc="5" dirty="0">
                <a:solidFill>
                  <a:srgbClr val="000099"/>
                </a:solidFill>
                <a:latin typeface="Times New Roman"/>
                <a:cs typeface="Times New Roman"/>
              </a:rPr>
              <a:t>College</a:t>
            </a:r>
            <a:r>
              <a:rPr sz="3650" b="1" spc="-5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3650" b="1" spc="5" dirty="0">
                <a:solidFill>
                  <a:srgbClr val="000099"/>
                </a:solidFill>
                <a:latin typeface="Times New Roman"/>
                <a:cs typeface="Times New Roman"/>
              </a:rPr>
              <a:t>of</a:t>
            </a:r>
            <a:r>
              <a:rPr sz="3650" b="1" spc="-1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3650" b="1" spc="5" dirty="0">
                <a:solidFill>
                  <a:srgbClr val="000099"/>
                </a:solidFill>
                <a:latin typeface="Times New Roman"/>
                <a:cs typeface="Times New Roman"/>
              </a:rPr>
              <a:t>Engineering</a:t>
            </a:r>
            <a:r>
              <a:rPr sz="3650" b="1" spc="-5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3650" b="1" spc="10" dirty="0">
                <a:solidFill>
                  <a:srgbClr val="000099"/>
                </a:solidFill>
                <a:latin typeface="Times New Roman"/>
                <a:cs typeface="Times New Roman"/>
              </a:rPr>
              <a:t>&amp;</a:t>
            </a:r>
            <a:r>
              <a:rPr sz="3650" b="1" spc="-10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3650" b="1" spc="5" dirty="0">
                <a:solidFill>
                  <a:srgbClr val="000099"/>
                </a:solidFill>
                <a:latin typeface="Times New Roman"/>
                <a:cs typeface="Times New Roman"/>
              </a:rPr>
              <a:t>Technology</a:t>
            </a:r>
            <a:endParaRPr sz="3650" dirty="0">
              <a:latin typeface="Times New Roman"/>
              <a:cs typeface="Times New Roman"/>
            </a:endParaRPr>
          </a:p>
          <a:p>
            <a:pPr marL="38735" algn="ctr">
              <a:lnSpc>
                <a:spcPts val="3080"/>
              </a:lnSpc>
            </a:pPr>
            <a:r>
              <a:rPr sz="2650" b="1" i="1" spc="20" dirty="0">
                <a:solidFill>
                  <a:srgbClr val="FF0000"/>
                </a:solidFill>
                <a:latin typeface="Times New Roman"/>
                <a:cs typeface="Times New Roman"/>
              </a:rPr>
              <a:t>(UGC</a:t>
            </a:r>
            <a:r>
              <a:rPr sz="2650" b="1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b="1" i="1" spc="20" dirty="0">
                <a:solidFill>
                  <a:srgbClr val="FF0000"/>
                </a:solidFill>
                <a:latin typeface="Times New Roman"/>
                <a:cs typeface="Times New Roman"/>
              </a:rPr>
              <a:t>Autonomous)</a:t>
            </a:r>
            <a:endParaRPr sz="2650" dirty="0">
              <a:latin typeface="Times New Roman"/>
              <a:cs typeface="Times New Roman"/>
            </a:endParaRPr>
          </a:p>
          <a:p>
            <a:pPr marL="39370" algn="ctr">
              <a:lnSpc>
                <a:spcPts val="2425"/>
              </a:lnSpc>
              <a:spcBef>
                <a:spcPts val="190"/>
              </a:spcBef>
            </a:pP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Kandlakoya</a:t>
            </a:r>
            <a:r>
              <a:rPr sz="2200" b="1" dirty="0">
                <a:solidFill>
                  <a:srgbClr val="00AFEF"/>
                </a:solidFill>
                <a:latin typeface="Times New Roman"/>
                <a:cs typeface="Times New Roman"/>
              </a:rPr>
              <a:t> ,</a:t>
            </a:r>
            <a:r>
              <a:rPr sz="22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Medchal</a:t>
            </a:r>
            <a:r>
              <a:rPr sz="22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Road,</a:t>
            </a:r>
            <a:r>
              <a:rPr sz="2200" b="1" spc="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Hyderabad</a:t>
            </a:r>
            <a:r>
              <a:rPr sz="2200" b="1" spc="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501401</a:t>
            </a:r>
            <a:endParaRPr sz="2200" dirty="0">
              <a:latin typeface="Times New Roman"/>
              <a:cs typeface="Times New Roman"/>
            </a:endParaRPr>
          </a:p>
          <a:p>
            <a:pPr marL="1057910" marR="1012825" indent="103505" algn="ctr">
              <a:lnSpc>
                <a:spcPts val="3100"/>
              </a:lnSpc>
              <a:spcBef>
                <a:spcPts val="355"/>
              </a:spcBef>
            </a:pPr>
            <a:r>
              <a:rPr sz="3050" b="1" dirty="0">
                <a:solidFill>
                  <a:srgbClr val="FF9900"/>
                </a:solidFill>
                <a:latin typeface="Times New Roman"/>
                <a:cs typeface="Times New Roman"/>
              </a:rPr>
              <a:t>Centre for Engineering Education Research (CEER) </a:t>
            </a:r>
            <a:r>
              <a:rPr sz="3050" b="1" spc="5" dirty="0">
                <a:solidFill>
                  <a:srgbClr val="FF9900"/>
                </a:solidFill>
                <a:latin typeface="Times New Roman"/>
                <a:cs typeface="Times New Roman"/>
              </a:rPr>
              <a:t> </a:t>
            </a:r>
            <a:r>
              <a:rPr lang="en-IN" sz="3050" b="1" dirty="0">
                <a:solidFill>
                  <a:srgbClr val="0000CC"/>
                </a:solidFill>
                <a:latin typeface="Times New Roman"/>
                <a:cs typeface="Times New Roman"/>
              </a:rPr>
              <a:t>INTRODUCTION</a:t>
            </a:r>
            <a:r>
              <a:rPr sz="30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0000CC"/>
                </a:solidFill>
                <a:latin typeface="Times New Roman"/>
                <a:cs typeface="Times New Roman"/>
              </a:rPr>
              <a:t>TO SOCIAL</a:t>
            </a:r>
            <a:r>
              <a:rPr sz="3050" b="1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0000CC"/>
                </a:solidFill>
                <a:latin typeface="Times New Roman"/>
                <a:cs typeface="Times New Roman"/>
              </a:rPr>
              <a:t>INNOVATION-A.Y 202</a:t>
            </a:r>
            <a:r>
              <a:rPr lang="en-US" sz="3050" b="1" dirty="0">
                <a:solidFill>
                  <a:srgbClr val="0000CC"/>
                </a:solidFill>
                <a:latin typeface="Times New Roman"/>
                <a:cs typeface="Times New Roman"/>
              </a:rPr>
              <a:t>4-25</a:t>
            </a:r>
            <a:endParaRPr sz="30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275"/>
              </a:spcBef>
            </a:pPr>
            <a:r>
              <a:rPr sz="2900" b="1" spc="20" dirty="0">
                <a:latin typeface="Times New Roman"/>
                <a:cs typeface="Times New Roman"/>
              </a:rPr>
              <a:t>LIGHT</a:t>
            </a:r>
            <a:r>
              <a:rPr sz="2900" b="1" spc="-35" dirty="0">
                <a:latin typeface="Times New Roman"/>
                <a:cs typeface="Times New Roman"/>
              </a:rPr>
              <a:t> </a:t>
            </a:r>
            <a:r>
              <a:rPr sz="2900" b="1" spc="20" dirty="0">
                <a:latin typeface="Times New Roman"/>
                <a:cs typeface="Times New Roman"/>
              </a:rPr>
              <a:t>SENSE</a:t>
            </a:r>
            <a:r>
              <a:rPr sz="2900" b="1" spc="-20" dirty="0">
                <a:latin typeface="Times New Roman"/>
                <a:cs typeface="Times New Roman"/>
              </a:rPr>
              <a:t> </a:t>
            </a:r>
            <a:r>
              <a:rPr sz="2900" b="1" spc="25" dirty="0">
                <a:latin typeface="Times New Roman"/>
                <a:cs typeface="Times New Roman"/>
              </a:rPr>
              <a:t>NETWORK</a:t>
            </a:r>
            <a:endParaRPr sz="2900" dirty="0">
              <a:latin typeface="Times New Roman"/>
              <a:cs typeface="Times New Roman"/>
            </a:endParaRPr>
          </a:p>
          <a:p>
            <a:pPr marL="5114925" indent="-375285">
              <a:lnSpc>
                <a:spcPct val="100000"/>
              </a:lnSpc>
              <a:spcBef>
                <a:spcPts val="2455"/>
              </a:spcBef>
              <a:buSzPct val="108928"/>
              <a:buFont typeface="Calibri"/>
              <a:buAutoNum type="arabicPeriod"/>
              <a:tabLst>
                <a:tab pos="5115560" algn="l"/>
              </a:tabLst>
            </a:pP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Need</a:t>
            </a:r>
            <a:r>
              <a:rPr sz="2800" b="1" spc="-20" dirty="0">
                <a:solidFill>
                  <a:srgbClr val="1154C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Statement</a:t>
            </a:r>
            <a:endParaRPr sz="2800" dirty="0">
              <a:latin typeface="Times New Roman"/>
              <a:cs typeface="Times New Roman"/>
            </a:endParaRPr>
          </a:p>
          <a:p>
            <a:pPr marL="12700" marR="6985">
              <a:lnSpc>
                <a:spcPct val="116599"/>
              </a:lnSpc>
              <a:spcBef>
                <a:spcPts val="685"/>
              </a:spcBef>
              <a:tabLst>
                <a:tab pos="1024255" algn="l"/>
                <a:tab pos="1883410" algn="l"/>
                <a:tab pos="3502025" algn="l"/>
                <a:tab pos="4077335" algn="l"/>
                <a:tab pos="5316220" algn="l"/>
                <a:tab pos="5816600" algn="l"/>
                <a:tab pos="7378065" algn="l"/>
                <a:tab pos="8275320" algn="l"/>
                <a:tab pos="9496425" algn="l"/>
                <a:tab pos="10821670" algn="l"/>
                <a:tab pos="11986260" algn="l"/>
              </a:tabLst>
            </a:pPr>
            <a:r>
              <a:rPr sz="2650" spc="15" dirty="0">
                <a:latin typeface="Times New Roman"/>
                <a:cs typeface="Times New Roman"/>
              </a:rPr>
              <a:t>Urban	ar</a:t>
            </a:r>
            <a:r>
              <a:rPr sz="2650" spc="5" dirty="0">
                <a:latin typeface="Times New Roman"/>
                <a:cs typeface="Times New Roman"/>
              </a:rPr>
              <a:t>e</a:t>
            </a:r>
            <a:r>
              <a:rPr sz="2650" spc="15" dirty="0">
                <a:latin typeface="Times New Roman"/>
                <a:cs typeface="Times New Roman"/>
              </a:rPr>
              <a:t>as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20" dirty="0">
                <a:latin typeface="Times New Roman"/>
                <a:cs typeface="Times New Roman"/>
              </a:rPr>
              <a:t>worldw</a:t>
            </a:r>
            <a:r>
              <a:rPr sz="2650" dirty="0">
                <a:latin typeface="Times New Roman"/>
                <a:cs typeface="Times New Roman"/>
              </a:rPr>
              <a:t>i</a:t>
            </a:r>
            <a:r>
              <a:rPr sz="2650" spc="15" dirty="0">
                <a:latin typeface="Times New Roman"/>
                <a:cs typeface="Times New Roman"/>
              </a:rPr>
              <a:t>de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15" dirty="0">
                <a:latin typeface="Times New Roman"/>
                <a:cs typeface="Times New Roman"/>
              </a:rPr>
              <a:t>are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15" dirty="0">
                <a:latin typeface="Times New Roman"/>
                <a:cs typeface="Times New Roman"/>
              </a:rPr>
              <a:t>plagu</a:t>
            </a:r>
            <a:r>
              <a:rPr sz="2650" dirty="0">
                <a:latin typeface="Times New Roman"/>
                <a:cs typeface="Times New Roman"/>
              </a:rPr>
              <a:t>e</a:t>
            </a:r>
            <a:r>
              <a:rPr sz="2650" spc="15" dirty="0">
                <a:latin typeface="Times New Roman"/>
                <a:cs typeface="Times New Roman"/>
              </a:rPr>
              <a:t>d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15" dirty="0">
                <a:latin typeface="Times New Roman"/>
                <a:cs typeface="Times New Roman"/>
              </a:rPr>
              <a:t>by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10" dirty="0">
                <a:latin typeface="Times New Roman"/>
                <a:cs typeface="Times New Roman"/>
              </a:rPr>
              <a:t>ineffic</a:t>
            </a:r>
            <a:r>
              <a:rPr sz="2650" spc="-5" dirty="0">
                <a:latin typeface="Times New Roman"/>
                <a:cs typeface="Times New Roman"/>
              </a:rPr>
              <a:t>i</a:t>
            </a:r>
            <a:r>
              <a:rPr sz="2650" spc="15" dirty="0">
                <a:latin typeface="Times New Roman"/>
                <a:cs typeface="Times New Roman"/>
              </a:rPr>
              <a:t>ent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10" dirty="0">
                <a:latin typeface="Times New Roman"/>
                <a:cs typeface="Times New Roman"/>
              </a:rPr>
              <a:t>str</a:t>
            </a:r>
            <a:r>
              <a:rPr sz="2650" dirty="0">
                <a:latin typeface="Times New Roman"/>
                <a:cs typeface="Times New Roman"/>
              </a:rPr>
              <a:t>e</a:t>
            </a:r>
            <a:r>
              <a:rPr sz="2650" spc="10" dirty="0">
                <a:latin typeface="Times New Roman"/>
                <a:cs typeface="Times New Roman"/>
              </a:rPr>
              <a:t>et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10" dirty="0">
                <a:latin typeface="Times New Roman"/>
                <a:cs typeface="Times New Roman"/>
              </a:rPr>
              <a:t>light</a:t>
            </a:r>
            <a:r>
              <a:rPr sz="2650" dirty="0">
                <a:latin typeface="Times New Roman"/>
                <a:cs typeface="Times New Roman"/>
              </a:rPr>
              <a:t>i</a:t>
            </a:r>
            <a:r>
              <a:rPr sz="2650" spc="15" dirty="0">
                <a:latin typeface="Times New Roman"/>
                <a:cs typeface="Times New Roman"/>
              </a:rPr>
              <a:t>ng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15" dirty="0">
                <a:latin typeface="Times New Roman"/>
                <a:cs typeface="Times New Roman"/>
              </a:rPr>
              <a:t>system</a:t>
            </a:r>
            <a:r>
              <a:rPr sz="2650" dirty="0">
                <a:latin typeface="Times New Roman"/>
                <a:cs typeface="Times New Roman"/>
              </a:rPr>
              <a:t>s</a:t>
            </a:r>
            <a:r>
              <a:rPr sz="2650" spc="5" dirty="0">
                <a:latin typeface="Times New Roman"/>
                <a:cs typeface="Times New Roman"/>
              </a:rPr>
              <a:t>,</a:t>
            </a:r>
            <a:r>
              <a:rPr sz="2650" dirty="0">
                <a:latin typeface="Times New Roman"/>
                <a:cs typeface="Times New Roman"/>
              </a:rPr>
              <a:t>	</a:t>
            </a:r>
            <a:r>
              <a:rPr sz="2650" spc="15" dirty="0">
                <a:latin typeface="Times New Roman"/>
                <a:cs typeface="Times New Roman"/>
              </a:rPr>
              <a:t>lead</a:t>
            </a:r>
            <a:r>
              <a:rPr sz="2650" spc="-5" dirty="0">
                <a:latin typeface="Times New Roman"/>
                <a:cs typeface="Times New Roman"/>
              </a:rPr>
              <a:t>i</a:t>
            </a:r>
            <a:r>
              <a:rPr sz="2650" spc="15" dirty="0">
                <a:latin typeface="Times New Roman"/>
                <a:cs typeface="Times New Roman"/>
              </a:rPr>
              <a:t>ng</a:t>
            </a:r>
            <a:r>
              <a:rPr sz="2650" dirty="0">
                <a:latin typeface="Times New Roman"/>
                <a:cs typeface="Times New Roman"/>
              </a:rPr>
              <a:t>	to  </a:t>
            </a:r>
            <a:r>
              <a:rPr sz="2650" spc="15" dirty="0">
                <a:latin typeface="Times New Roman"/>
                <a:cs typeface="Times New Roman"/>
              </a:rPr>
              <a:t>several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critical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issues</a:t>
            </a:r>
            <a:r>
              <a:rPr sz="2650" spc="15" dirty="0">
                <a:latin typeface="Calibri"/>
                <a:cs typeface="Calibri"/>
              </a:rPr>
              <a:t>.</a:t>
            </a:r>
            <a:endParaRPr sz="2650" dirty="0">
              <a:latin typeface="Calibri"/>
              <a:cs typeface="Calibri"/>
            </a:endParaRPr>
          </a:p>
          <a:p>
            <a:pPr marL="7964170" lvl="1" indent="-356870" algn="just">
              <a:lnSpc>
                <a:spcPct val="100000"/>
              </a:lnSpc>
              <a:spcBef>
                <a:spcPts val="2270"/>
              </a:spcBef>
              <a:buAutoNum type="arabicPeriod" startAt="5"/>
              <a:tabLst>
                <a:tab pos="7964805" algn="l"/>
              </a:tabLst>
            </a:pP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Proposed</a:t>
            </a:r>
            <a:r>
              <a:rPr sz="2800" b="1" spc="-10" dirty="0">
                <a:solidFill>
                  <a:srgbClr val="1154C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Soluation</a:t>
            </a:r>
            <a:endParaRPr sz="2800" dirty="0">
              <a:latin typeface="Times New Roman"/>
              <a:cs typeface="Times New Roman"/>
            </a:endParaRPr>
          </a:p>
          <a:p>
            <a:pPr marL="6284595" marR="5080" indent="154305" algn="just">
              <a:lnSpc>
                <a:spcPct val="116599"/>
              </a:lnSpc>
              <a:spcBef>
                <a:spcPts val="965"/>
              </a:spcBef>
            </a:pPr>
            <a:r>
              <a:rPr sz="2650" spc="15" dirty="0">
                <a:latin typeface="Times New Roman"/>
                <a:cs typeface="Times New Roman"/>
              </a:rPr>
              <a:t>Solution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for</a:t>
            </a:r>
            <a:r>
              <a:rPr sz="2650" spc="15" dirty="0">
                <a:latin typeface="Times New Roman"/>
                <a:cs typeface="Times New Roman"/>
              </a:rPr>
              <a:t> the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problem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5" dirty="0">
                <a:latin typeface="Times New Roman"/>
                <a:cs typeface="Times New Roman"/>
              </a:rPr>
              <a:t>is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to</a:t>
            </a:r>
            <a:r>
              <a:rPr sz="2650" spc="20" dirty="0">
                <a:latin typeface="Times New Roman"/>
                <a:cs typeface="Times New Roman"/>
              </a:rPr>
              <a:t> make </a:t>
            </a:r>
            <a:r>
              <a:rPr sz="2650" spc="25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automatic </a:t>
            </a:r>
            <a:r>
              <a:rPr sz="2650" spc="10" dirty="0">
                <a:latin typeface="Times New Roman"/>
                <a:cs typeface="Times New Roman"/>
              </a:rPr>
              <a:t>street light </a:t>
            </a:r>
            <a:r>
              <a:rPr sz="2650" spc="15" dirty="0">
                <a:latin typeface="Times New Roman"/>
                <a:cs typeface="Times New Roman"/>
              </a:rPr>
              <a:t>using photo </a:t>
            </a:r>
            <a:r>
              <a:rPr sz="2650" spc="10" dirty="0">
                <a:latin typeface="Times New Roman"/>
                <a:cs typeface="Times New Roman"/>
              </a:rPr>
              <a:t>transistor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by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replacing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20" dirty="0">
                <a:latin typeface="Times New Roman"/>
                <a:cs typeface="Times New Roman"/>
              </a:rPr>
              <a:t>LDR</a:t>
            </a:r>
            <a:r>
              <a:rPr sz="2650" spc="25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sensor,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that</a:t>
            </a:r>
            <a:r>
              <a:rPr sz="2650" spc="15" dirty="0">
                <a:latin typeface="Times New Roman"/>
                <a:cs typeface="Times New Roman"/>
              </a:rPr>
              <a:t> can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done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automated operation </a:t>
            </a:r>
            <a:r>
              <a:rPr sz="2650" spc="10" dirty="0">
                <a:latin typeface="Times New Roman"/>
                <a:cs typeface="Times New Roman"/>
              </a:rPr>
              <a:t>of </a:t>
            </a:r>
            <a:r>
              <a:rPr sz="2650" spc="15" dirty="0">
                <a:latin typeface="Times New Roman"/>
                <a:cs typeface="Times New Roman"/>
              </a:rPr>
              <a:t>the light.We should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use </a:t>
            </a:r>
            <a:r>
              <a:rPr sz="2650" spc="10" dirty="0">
                <a:latin typeface="Times New Roman"/>
                <a:cs typeface="Times New Roman"/>
              </a:rPr>
              <a:t>solar </a:t>
            </a:r>
            <a:r>
              <a:rPr sz="2650" spc="15" dirty="0">
                <a:latin typeface="Times New Roman"/>
                <a:cs typeface="Times New Roman"/>
              </a:rPr>
              <a:t>panel to </a:t>
            </a:r>
            <a:r>
              <a:rPr sz="2650" spc="10" dirty="0">
                <a:latin typeface="Times New Roman"/>
                <a:cs typeface="Times New Roman"/>
              </a:rPr>
              <a:t>recharge </a:t>
            </a:r>
            <a:r>
              <a:rPr sz="2650" spc="15" dirty="0">
                <a:latin typeface="Times New Roman"/>
                <a:cs typeface="Times New Roman"/>
              </a:rPr>
              <a:t>battery when </a:t>
            </a:r>
            <a:r>
              <a:rPr sz="2650" spc="10" dirty="0">
                <a:latin typeface="Times New Roman"/>
                <a:cs typeface="Times New Roman"/>
              </a:rPr>
              <a:t>its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energy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Times New Roman"/>
                <a:cs typeface="Times New Roman"/>
              </a:rPr>
              <a:t>is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15" dirty="0">
                <a:latin typeface="Times New Roman"/>
                <a:cs typeface="Times New Roman"/>
              </a:rPr>
              <a:t>Completed.</a:t>
            </a:r>
            <a:endParaRPr sz="2650" dirty="0">
              <a:latin typeface="Times New Roman"/>
              <a:cs typeface="Times New Roman"/>
            </a:endParaRPr>
          </a:p>
          <a:p>
            <a:pPr marL="8232140" lvl="1" indent="-356870" algn="just">
              <a:lnSpc>
                <a:spcPct val="100000"/>
              </a:lnSpc>
              <a:spcBef>
                <a:spcPts val="1845"/>
              </a:spcBef>
              <a:buAutoNum type="arabicPeriod" startAt="6"/>
              <a:tabLst>
                <a:tab pos="8232775" algn="l"/>
              </a:tabLst>
            </a:pP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Concept</a:t>
            </a:r>
            <a:r>
              <a:rPr sz="2800" b="1" spc="-15" dirty="0">
                <a:solidFill>
                  <a:srgbClr val="1154C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Design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28109" y="13160125"/>
            <a:ext cx="6127115" cy="3915410"/>
            <a:chOff x="6828109" y="13160125"/>
            <a:chExt cx="6127115" cy="3915410"/>
          </a:xfrm>
        </p:grpSpPr>
        <p:sp>
          <p:nvSpPr>
            <p:cNvPr id="15" name="object 15"/>
            <p:cNvSpPr/>
            <p:nvPr/>
          </p:nvSpPr>
          <p:spPr>
            <a:xfrm>
              <a:off x="6874873" y="13206858"/>
              <a:ext cx="6033770" cy="643255"/>
            </a:xfrm>
            <a:custGeom>
              <a:avLst/>
              <a:gdLst/>
              <a:ahLst/>
              <a:cxnLst/>
              <a:rect l="l" t="t" r="r" b="b"/>
              <a:pathLst>
                <a:path w="6033770" h="643255">
                  <a:moveTo>
                    <a:pt x="6033323" y="0"/>
                  </a:moveTo>
                  <a:lnTo>
                    <a:pt x="0" y="0"/>
                  </a:lnTo>
                  <a:lnTo>
                    <a:pt x="0" y="643020"/>
                  </a:lnTo>
                  <a:lnTo>
                    <a:pt x="6033323" y="643020"/>
                  </a:lnTo>
                  <a:lnTo>
                    <a:pt x="6033323" y="0"/>
                  </a:lnTo>
                  <a:close/>
                </a:path>
              </a:pathLst>
            </a:custGeom>
            <a:solidFill>
              <a:srgbClr val="F8CA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1604" y="13183620"/>
              <a:ext cx="6080125" cy="3868420"/>
            </a:xfrm>
            <a:custGeom>
              <a:avLst/>
              <a:gdLst/>
              <a:ahLst/>
              <a:cxnLst/>
              <a:rect l="l" t="t" r="r" b="b"/>
              <a:pathLst>
                <a:path w="6080125" h="3868419">
                  <a:moveTo>
                    <a:pt x="0" y="666258"/>
                  </a:moveTo>
                  <a:lnTo>
                    <a:pt x="6079938" y="666258"/>
                  </a:lnTo>
                </a:path>
                <a:path w="6080125" h="3868419">
                  <a:moveTo>
                    <a:pt x="23268" y="0"/>
                  </a:moveTo>
                  <a:lnTo>
                    <a:pt x="23268" y="3868410"/>
                  </a:lnTo>
                </a:path>
                <a:path w="6080125" h="3868419">
                  <a:moveTo>
                    <a:pt x="6056670" y="0"/>
                  </a:moveTo>
                  <a:lnTo>
                    <a:pt x="6056670" y="3868410"/>
                  </a:lnTo>
                </a:path>
                <a:path w="6080125" h="3868419">
                  <a:moveTo>
                    <a:pt x="0" y="3845141"/>
                  </a:moveTo>
                  <a:lnTo>
                    <a:pt x="6079938" y="3845141"/>
                  </a:lnTo>
                </a:path>
              </a:pathLst>
            </a:custGeom>
            <a:ln w="46537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874872" y="13206889"/>
            <a:ext cx="6033770" cy="643255"/>
          </a:xfrm>
          <a:prstGeom prst="rect">
            <a:avLst/>
          </a:prstGeom>
          <a:solidFill>
            <a:srgbClr val="F8CA9C"/>
          </a:solidFill>
          <a:ln w="46537">
            <a:solidFill>
              <a:srgbClr val="FF00FF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796290">
              <a:lnSpc>
                <a:spcPct val="100000"/>
              </a:lnSpc>
              <a:spcBef>
                <a:spcPts val="560"/>
              </a:spcBef>
            </a:pP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7.</a:t>
            </a:r>
            <a:r>
              <a:rPr sz="2800" b="1" spc="-10" dirty="0">
                <a:solidFill>
                  <a:srgbClr val="1154C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Pictures</a:t>
            </a:r>
            <a:r>
              <a:rPr sz="2800" b="1" spc="-5" dirty="0">
                <a:solidFill>
                  <a:srgbClr val="1154CC"/>
                </a:solidFill>
                <a:latin typeface="Times New Roman"/>
                <a:cs typeface="Times New Roman"/>
              </a:rPr>
              <a:t> </a:t>
            </a:r>
            <a:r>
              <a:rPr sz="2800" b="1" spc="5" dirty="0">
                <a:solidFill>
                  <a:srgbClr val="1154CC"/>
                </a:solidFill>
                <a:latin typeface="Times New Roman"/>
                <a:cs typeface="Times New Roman"/>
              </a:rPr>
              <a:t>with</a:t>
            </a:r>
            <a:r>
              <a:rPr sz="2800" b="1" dirty="0">
                <a:solidFill>
                  <a:srgbClr val="1154CC"/>
                </a:solidFill>
                <a:latin typeface="Times New Roman"/>
                <a:cs typeface="Times New Roman"/>
              </a:rPr>
              <a:t> Stakeholders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267685"/>
              </p:ext>
            </p:extLst>
          </p:nvPr>
        </p:nvGraphicFramePr>
        <p:xfrm>
          <a:off x="6804135" y="17229415"/>
          <a:ext cx="6080760" cy="22289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0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11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2800" b="1" spc="-10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1154CC"/>
                          </a:solidFill>
                          <a:latin typeface="Times New Roman"/>
                          <a:cs typeface="Times New Roman"/>
                        </a:rPr>
                        <a:t>Coordinators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  <a:solidFill>
                      <a:srgbClr val="F8CA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3319">
                <a:tc>
                  <a:txBody>
                    <a:bodyPr/>
                    <a:lstStyle/>
                    <a:p>
                      <a:pPr marL="742950" lvl="0" indent="-74295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+mn-lt"/>
                          <a:ea typeface="Calibri"/>
                          <a:cs typeface="Calibri"/>
                        </a:rPr>
                        <a:t>K.RAJU, </a:t>
                      </a:r>
                      <a:r>
                        <a:rPr lang="en-US" sz="2000" dirty="0" err="1">
                          <a:latin typeface="+mn-lt"/>
                          <a:ea typeface="Calibri"/>
                          <a:cs typeface="Calibri"/>
                        </a:rPr>
                        <a:t>Asst.Professor</a:t>
                      </a:r>
                      <a:r>
                        <a:rPr lang="en-US" sz="2000" dirty="0">
                          <a:latin typeface="+mn-lt"/>
                          <a:ea typeface="Calibri"/>
                          <a:cs typeface="Calibri"/>
                        </a:rPr>
                        <a:t>,(CEER/ECE)</a:t>
                      </a:r>
                    </a:p>
                    <a:p>
                      <a:pPr marL="742950" lvl="0" indent="-742950" algn="just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+mn-lt"/>
                          <a:ea typeface="Calibri"/>
                          <a:cs typeface="Calibri"/>
                        </a:rPr>
                        <a:t>NAUSHADALAM, </a:t>
                      </a:r>
                      <a:r>
                        <a:rPr lang="en-US" sz="2000" dirty="0" err="1">
                          <a:latin typeface="+mn-lt"/>
                          <a:ea typeface="Calibri"/>
                          <a:cs typeface="Calibri"/>
                        </a:rPr>
                        <a:t>Asst.Professor</a:t>
                      </a:r>
                      <a:r>
                        <a:rPr lang="en-US" sz="2000" dirty="0">
                          <a:latin typeface="+mn-lt"/>
                          <a:ea typeface="Calibri"/>
                          <a:cs typeface="Calibri"/>
                        </a:rPr>
                        <a:t>,(CEER/CSC)</a:t>
                      </a:r>
                    </a:p>
                    <a:p>
                      <a:pPr marL="742950" lvl="0" indent="-742950" algn="just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dirty="0">
                          <a:latin typeface="+mn-lt"/>
                          <a:ea typeface="Calibri"/>
                          <a:cs typeface="Calibri"/>
                        </a:rPr>
                        <a:t>G.BHANUPRPIYA, </a:t>
                      </a:r>
                      <a:r>
                        <a:rPr lang="en-US" sz="2000" dirty="0" err="1">
                          <a:latin typeface="+mn-lt"/>
                          <a:ea typeface="Calibri"/>
                          <a:cs typeface="Calibri"/>
                        </a:rPr>
                        <a:t>Asst.Professor</a:t>
                      </a:r>
                      <a:r>
                        <a:rPr lang="en-US" sz="2000" dirty="0">
                          <a:latin typeface="+mn-lt"/>
                          <a:ea typeface="Calibri"/>
                          <a:cs typeface="Calibri"/>
                        </a:rPr>
                        <a:t>,(CEER/CSE)</a:t>
                      </a:r>
                      <a:endParaRPr lang="en-IN" sz="2000" dirty="0">
                        <a:latin typeface="+mn-lt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  <a:p>
                      <a:pPr marL="55245" indent="0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  <a:tabLst>
                          <a:tab pos="398145" algn="l"/>
                        </a:tabLst>
                      </a:pPr>
                      <a:endParaRPr lang="en-US" sz="2650" spc="2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6200" marB="0">
                    <a:lnL w="53975">
                      <a:solidFill>
                        <a:srgbClr val="FF00FF"/>
                      </a:solidFill>
                      <a:prstDash val="solid"/>
                    </a:lnL>
                    <a:lnR w="53975">
                      <a:solidFill>
                        <a:srgbClr val="FF00FF"/>
                      </a:solidFill>
                      <a:prstDash val="solid"/>
                    </a:lnR>
                    <a:lnT w="53975">
                      <a:solidFill>
                        <a:srgbClr val="FF00FF"/>
                      </a:solidFill>
                      <a:prstDash val="solid"/>
                    </a:lnT>
                    <a:lnB w="53975">
                      <a:solidFill>
                        <a:srgbClr val="FF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E384F3D7-BA96-FD5C-9D44-3E2709843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0" y="9460801"/>
            <a:ext cx="5410200" cy="34320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3FC874-EA25-EC74-F95C-F7D9D4C6CA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19"/>
          <a:stretch>
            <a:fillRect/>
          </a:stretch>
        </p:blipFill>
        <p:spPr>
          <a:xfrm>
            <a:off x="8832850" y="14104075"/>
            <a:ext cx="2476500" cy="2638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257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MT</vt:lpstr>
      <vt:lpstr>Calibri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 MODE GROUNDNUT POD STRIPPER</dc:title>
  <dc:creator>Rajesh</dc:creator>
  <cp:lastModifiedBy>Deepika Konderu</cp:lastModifiedBy>
  <cp:revision>6</cp:revision>
  <dcterms:created xsi:type="dcterms:W3CDTF">2024-02-01T05:45:40Z</dcterms:created>
  <dcterms:modified xsi:type="dcterms:W3CDTF">2025-06-26T04:22:57Z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2024-02-01T00:00:00Z</vt:filetime>
  </property>
</Properties>
</file>